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4"/>
  </p:sldMasterIdLst>
  <p:notesMasterIdLst>
    <p:notesMasterId r:id="rId15"/>
  </p:notesMasterIdLst>
  <p:handoutMasterIdLst>
    <p:handoutMasterId r:id="rId16"/>
  </p:handoutMasterIdLst>
  <p:sldIdLst>
    <p:sldId id="295" r:id="rId5"/>
    <p:sldId id="334" r:id="rId6"/>
    <p:sldId id="2147474097" r:id="rId7"/>
    <p:sldId id="336" r:id="rId8"/>
    <p:sldId id="338" r:id="rId9"/>
    <p:sldId id="2147474098" r:id="rId10"/>
    <p:sldId id="2147474099" r:id="rId11"/>
    <p:sldId id="2147474100" r:id="rId12"/>
    <p:sldId id="2147474068" r:id="rId13"/>
    <p:sldId id="257" r:id="rId14"/>
  </p:sldIdLst>
  <p:sldSz cx="9144000" cy="6858000" type="screen4x3"/>
  <p:notesSz cx="6797675" cy="9926638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738D0F0A-DE05-4A42-9708-06B99D495EB7}">
          <p14:sldIdLst>
            <p14:sldId id="295"/>
          </p14:sldIdLst>
        </p14:section>
        <p14:section name="Introduccion" id="{78661C00-685E-4F50-B7BC-8B386ADB735B}">
          <p14:sldIdLst>
            <p14:sldId id="334"/>
          </p14:sldIdLst>
        </p14:section>
        <p14:section name="1. Fundamentos y diagnóstico de rendimiento" id="{06E2F9FF-22BB-4F0A-A7A6-D6F6F2D9919B}">
          <p14:sldIdLst>
            <p14:sldId id="2147474097"/>
            <p14:sldId id="336"/>
            <p14:sldId id="338"/>
            <p14:sldId id="2147474098"/>
            <p14:sldId id="2147474099"/>
            <p14:sldId id="2147474100"/>
            <p14:sldId id="2147474068"/>
          </p14:sldIdLst>
        </p14:section>
        <p14:section name="Fin" id="{9CF3C226-B334-4E16-8AF2-95D0DE59AB66}">
          <p14:sldIdLst>
            <p14:sldId id="25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799" userDrawn="1">
          <p15:clr>
            <a:srgbClr val="A4A3A4"/>
          </p15:clr>
        </p15:guide>
        <p15:guide id="2" pos="249" userDrawn="1">
          <p15:clr>
            <a:srgbClr val="A4A3A4"/>
          </p15:clr>
        </p15:guide>
        <p15:guide id="3" pos="551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472C4"/>
    <a:srgbClr val="083796"/>
    <a:srgbClr val="F5750B"/>
    <a:srgbClr val="D40D34"/>
    <a:srgbClr val="FFEE46"/>
    <a:srgbClr val="D0C70A"/>
    <a:srgbClr val="062970"/>
    <a:srgbClr val="2D5499"/>
    <a:srgbClr val="6ABAD0"/>
    <a:srgbClr val="BDC7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D2975E3-2EB2-4BB8-BA18-B976D46C5C31}" v="61" dt="2026-01-29T14:24:05.982"/>
  </p1510:revLst>
</p1510:revInfo>
</file>

<file path=ppt/tableStyles.xml><?xml version="1.0" encoding="utf-8"?>
<a:tblStyleLst xmlns:a="http://schemas.openxmlformats.org/drawingml/2006/main" def="{5C22544A-7EE6-4342-B048-85BDC9FD1C3A}">
  <a:tblStyle styleId="{93296810-A885-4BE3-A3E7-6D5BEEA58F35}" styleName="Estilo medio 2 - Énfasis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Estilo medio 2 - Énfasis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600" autoAdjust="0"/>
    <p:restoredTop sz="86925" autoAdjust="0"/>
  </p:normalViewPr>
  <p:slideViewPr>
    <p:cSldViewPr>
      <p:cViewPr varScale="1">
        <p:scale>
          <a:sx n="74" d="100"/>
          <a:sy n="74" d="100"/>
        </p:scale>
        <p:origin x="1608" y="27"/>
      </p:cViewPr>
      <p:guideLst>
        <p:guide orient="horz" pos="799"/>
        <p:guide pos="249"/>
        <p:guide pos="5511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blo Sanz" userId="b60748b7-f2df-4c57-9ffa-ce60a404c4fa" providerId="ADAL" clId="{3DA5D019-CCA1-4BD5-8367-A08AEC2DFD03}"/>
    <pc:docChg chg="custSel addSld modSld">
      <pc:chgData name="Pablo Sanz" userId="b60748b7-f2df-4c57-9ffa-ce60a404c4fa" providerId="ADAL" clId="{3DA5D019-CCA1-4BD5-8367-A08AEC2DFD03}" dt="2026-01-30T11:51:41.873" v="61" actId="478"/>
      <pc:docMkLst>
        <pc:docMk/>
      </pc:docMkLst>
      <pc:sldChg chg="delSp mod">
        <pc:chgData name="Pablo Sanz" userId="b60748b7-f2df-4c57-9ffa-ce60a404c4fa" providerId="ADAL" clId="{3DA5D019-CCA1-4BD5-8367-A08AEC2DFD03}" dt="2026-01-30T11:51:41.873" v="61" actId="478"/>
        <pc:sldMkLst>
          <pc:docMk/>
          <pc:sldMk cId="1630953449" sldId="336"/>
        </pc:sldMkLst>
        <pc:spChg chg="del">
          <ac:chgData name="Pablo Sanz" userId="b60748b7-f2df-4c57-9ffa-ce60a404c4fa" providerId="ADAL" clId="{3DA5D019-CCA1-4BD5-8367-A08AEC2DFD03}" dt="2026-01-30T11:51:41.873" v="61" actId="478"/>
          <ac:spMkLst>
            <pc:docMk/>
            <pc:sldMk cId="1630953449" sldId="336"/>
            <ac:spMk id="3" creationId="{AD30908F-1A1A-CE9C-3210-7168B1400624}"/>
          </ac:spMkLst>
        </pc:spChg>
      </pc:sldChg>
      <pc:sldChg chg="add setBg">
        <pc:chgData name="Pablo Sanz" userId="b60748b7-f2df-4c57-9ffa-ce60a404c4fa" providerId="ADAL" clId="{3DA5D019-CCA1-4BD5-8367-A08AEC2DFD03}" dt="2026-01-29T14:16:05.021" v="25"/>
        <pc:sldMkLst>
          <pc:docMk/>
          <pc:sldMk cId="2609652619" sldId="2147474068"/>
        </pc:sldMkLst>
      </pc:sldChg>
      <pc:sldChg chg="modSp add setBg">
        <pc:chgData name="Pablo Sanz" userId="b60748b7-f2df-4c57-9ffa-ce60a404c4fa" providerId="ADAL" clId="{3DA5D019-CCA1-4BD5-8367-A08AEC2DFD03}" dt="2026-01-29T14:02:39.195" v="6"/>
        <pc:sldMkLst>
          <pc:docMk/>
          <pc:sldMk cId="3756044046" sldId="2147474097"/>
        </pc:sldMkLst>
        <pc:spChg chg="mod">
          <ac:chgData name="Pablo Sanz" userId="b60748b7-f2df-4c57-9ffa-ce60a404c4fa" providerId="ADAL" clId="{3DA5D019-CCA1-4BD5-8367-A08AEC2DFD03}" dt="2026-01-29T14:02:27.526" v="5"/>
          <ac:spMkLst>
            <pc:docMk/>
            <pc:sldMk cId="3756044046" sldId="2147474097"/>
            <ac:spMk id="5" creationId="{F4C3C670-D8DC-AA77-6533-2CBF6F5CFA03}"/>
          </ac:spMkLst>
        </pc:spChg>
      </pc:sldChg>
      <pc:sldChg chg="addSp modSp add">
        <pc:chgData name="Pablo Sanz" userId="b60748b7-f2df-4c57-9ffa-ce60a404c4fa" providerId="ADAL" clId="{3DA5D019-CCA1-4BD5-8367-A08AEC2DFD03}" dt="2026-01-29T14:18:35.120" v="26"/>
        <pc:sldMkLst>
          <pc:docMk/>
          <pc:sldMk cId="94096633" sldId="2147474098"/>
        </pc:sldMkLst>
        <pc:spChg chg="mod">
          <ac:chgData name="Pablo Sanz" userId="b60748b7-f2df-4c57-9ffa-ce60a404c4fa" providerId="ADAL" clId="{3DA5D019-CCA1-4BD5-8367-A08AEC2DFD03}" dt="2026-01-29T14:18:35.120" v="26"/>
          <ac:spMkLst>
            <pc:docMk/>
            <pc:sldMk cId="94096633" sldId="2147474098"/>
            <ac:spMk id="6" creationId="{5B543C44-2935-3B6D-D16E-2A4832093712}"/>
          </ac:spMkLst>
        </pc:spChg>
        <pc:picChg chg="add mod">
          <ac:chgData name="Pablo Sanz" userId="b60748b7-f2df-4c57-9ffa-ce60a404c4fa" providerId="ADAL" clId="{3DA5D019-CCA1-4BD5-8367-A08AEC2DFD03}" dt="2026-01-29T14:08:53.898" v="11" actId="1076"/>
          <ac:picMkLst>
            <pc:docMk/>
            <pc:sldMk cId="94096633" sldId="2147474098"/>
            <ac:picMk id="1026" creationId="{1BD9B7F9-0CE0-6DC0-0C6E-A7D0B3F0F521}"/>
          </ac:picMkLst>
        </pc:picChg>
      </pc:sldChg>
      <pc:sldChg chg="modSp add">
        <pc:chgData name="Pablo Sanz" userId="b60748b7-f2df-4c57-9ffa-ce60a404c4fa" providerId="ADAL" clId="{3DA5D019-CCA1-4BD5-8367-A08AEC2DFD03}" dt="2026-01-29T14:15:00.601" v="23" actId="1035"/>
        <pc:sldMkLst>
          <pc:docMk/>
          <pc:sldMk cId="60001672" sldId="2147474099"/>
        </pc:sldMkLst>
        <pc:spChg chg="mod">
          <ac:chgData name="Pablo Sanz" userId="b60748b7-f2df-4c57-9ffa-ce60a404c4fa" providerId="ADAL" clId="{3DA5D019-CCA1-4BD5-8367-A08AEC2DFD03}" dt="2026-01-29T14:15:00.601" v="23" actId="1035"/>
          <ac:spMkLst>
            <pc:docMk/>
            <pc:sldMk cId="60001672" sldId="2147474099"/>
            <ac:spMk id="6" creationId="{5281055C-F3AE-5E69-B2DA-A39246E6B4CE}"/>
          </ac:spMkLst>
        </pc:spChg>
        <pc:spChg chg="mod">
          <ac:chgData name="Pablo Sanz" userId="b60748b7-f2df-4c57-9ffa-ce60a404c4fa" providerId="ADAL" clId="{3DA5D019-CCA1-4BD5-8367-A08AEC2DFD03}" dt="2026-01-29T14:15:00.601" v="23" actId="1035"/>
          <ac:spMkLst>
            <pc:docMk/>
            <pc:sldMk cId="60001672" sldId="2147474099"/>
            <ac:spMk id="24" creationId="{FF667271-29E4-67DA-96E4-61CBDD18908F}"/>
          </ac:spMkLst>
        </pc:spChg>
        <pc:spChg chg="mod">
          <ac:chgData name="Pablo Sanz" userId="b60748b7-f2df-4c57-9ffa-ce60a404c4fa" providerId="ADAL" clId="{3DA5D019-CCA1-4BD5-8367-A08AEC2DFD03}" dt="2026-01-29T14:15:00.601" v="23" actId="1035"/>
          <ac:spMkLst>
            <pc:docMk/>
            <pc:sldMk cId="60001672" sldId="2147474099"/>
            <ac:spMk id="25" creationId="{4018C668-22B9-F991-BCE0-4DA341AD7EB3}"/>
          </ac:spMkLst>
        </pc:spChg>
      </pc:sldChg>
      <pc:sldChg chg="delSp modSp add">
        <pc:chgData name="Pablo Sanz" userId="b60748b7-f2df-4c57-9ffa-ce60a404c4fa" providerId="ADAL" clId="{3DA5D019-CCA1-4BD5-8367-A08AEC2DFD03}" dt="2026-01-29T14:24:05.982" v="60" actId="554"/>
        <pc:sldMkLst>
          <pc:docMk/>
          <pc:sldMk cId="1321998826" sldId="2147474100"/>
        </pc:sldMkLst>
        <pc:spChg chg="mod">
          <ac:chgData name="Pablo Sanz" userId="b60748b7-f2df-4c57-9ffa-ce60a404c4fa" providerId="ADAL" clId="{3DA5D019-CCA1-4BD5-8367-A08AEC2DFD03}" dt="2026-01-29T14:21:15.717" v="33" actId="1076"/>
          <ac:spMkLst>
            <pc:docMk/>
            <pc:sldMk cId="1321998826" sldId="2147474100"/>
            <ac:spMk id="3" creationId="{F5754DA7-2DFD-B0FA-09E9-50742F0E0848}"/>
          </ac:spMkLst>
        </pc:spChg>
        <pc:spChg chg="del">
          <ac:chgData name="Pablo Sanz" userId="b60748b7-f2df-4c57-9ffa-ce60a404c4fa" providerId="ADAL" clId="{3DA5D019-CCA1-4BD5-8367-A08AEC2DFD03}" dt="2026-01-29T14:21:11.133" v="32" actId="478"/>
          <ac:spMkLst>
            <pc:docMk/>
            <pc:sldMk cId="1321998826" sldId="2147474100"/>
            <ac:spMk id="4" creationId="{8A884058-4ADD-B972-1F07-204FD4EF0F41}"/>
          </ac:spMkLst>
        </pc:spChg>
        <pc:spChg chg="mod">
          <ac:chgData name="Pablo Sanz" userId="b60748b7-f2df-4c57-9ffa-ce60a404c4fa" providerId="ADAL" clId="{3DA5D019-CCA1-4BD5-8367-A08AEC2DFD03}" dt="2026-01-29T14:20:57.929" v="31"/>
          <ac:spMkLst>
            <pc:docMk/>
            <pc:sldMk cId="1321998826" sldId="2147474100"/>
            <ac:spMk id="5" creationId="{45433D2D-B1F7-C4B1-FEEE-AB46290F11A0}"/>
          </ac:spMkLst>
        </pc:spChg>
        <pc:spChg chg="mod">
          <ac:chgData name="Pablo Sanz" userId="b60748b7-f2df-4c57-9ffa-ce60a404c4fa" providerId="ADAL" clId="{3DA5D019-CCA1-4BD5-8367-A08AEC2DFD03}" dt="2026-01-29T14:24:05.982" v="60" actId="554"/>
          <ac:spMkLst>
            <pc:docMk/>
            <pc:sldMk cId="1321998826" sldId="2147474100"/>
            <ac:spMk id="6" creationId="{CE24102A-823E-D9CA-9F97-3D6D1B55C3E5}"/>
          </ac:spMkLst>
        </pc:spChg>
        <pc:spChg chg="mod">
          <ac:chgData name="Pablo Sanz" userId="b60748b7-f2df-4c57-9ffa-ce60a404c4fa" providerId="ADAL" clId="{3DA5D019-CCA1-4BD5-8367-A08AEC2DFD03}" dt="2026-01-29T14:24:05.982" v="60" actId="554"/>
          <ac:spMkLst>
            <pc:docMk/>
            <pc:sldMk cId="1321998826" sldId="2147474100"/>
            <ac:spMk id="24" creationId="{ED676A94-EEA9-4276-00A8-B81118986E91}"/>
          </ac:spMkLst>
        </pc:spChg>
        <pc:spChg chg="del">
          <ac:chgData name="Pablo Sanz" userId="b60748b7-f2df-4c57-9ffa-ce60a404c4fa" providerId="ADAL" clId="{3DA5D019-CCA1-4BD5-8367-A08AEC2DFD03}" dt="2026-01-29T14:21:11.133" v="32" actId="478"/>
          <ac:spMkLst>
            <pc:docMk/>
            <pc:sldMk cId="1321998826" sldId="2147474100"/>
            <ac:spMk id="25" creationId="{2364A331-7DE8-182C-519D-706EB54685B7}"/>
          </ac:spMkLst>
        </pc:spChg>
        <pc:spChg chg="mod">
          <ac:chgData name="Pablo Sanz" userId="b60748b7-f2df-4c57-9ffa-ce60a404c4fa" providerId="ADAL" clId="{3DA5D019-CCA1-4BD5-8367-A08AEC2DFD03}" dt="2026-01-29T14:21:15.717" v="33" actId="1076"/>
          <ac:spMkLst>
            <pc:docMk/>
            <pc:sldMk cId="1321998826" sldId="2147474100"/>
            <ac:spMk id="27" creationId="{6D23524B-67F1-372E-C9B5-88CA2B1FAD38}"/>
          </ac:spMkLst>
        </pc:spChg>
        <pc:spChg chg="del">
          <ac:chgData name="Pablo Sanz" userId="b60748b7-f2df-4c57-9ffa-ce60a404c4fa" providerId="ADAL" clId="{3DA5D019-CCA1-4BD5-8367-A08AEC2DFD03}" dt="2026-01-29T14:21:11.133" v="32" actId="478"/>
          <ac:spMkLst>
            <pc:docMk/>
            <pc:sldMk cId="1321998826" sldId="2147474100"/>
            <ac:spMk id="28" creationId="{A0CED096-D7F2-4556-2916-1920E319839F}"/>
          </ac:spMkLst>
        </pc:spChg>
        <pc:picChg chg="mod">
          <ac:chgData name="Pablo Sanz" userId="b60748b7-f2df-4c57-9ffa-ce60a404c4fa" providerId="ADAL" clId="{3DA5D019-CCA1-4BD5-8367-A08AEC2DFD03}" dt="2026-01-29T14:23:42.149" v="45"/>
          <ac:picMkLst>
            <pc:docMk/>
            <pc:sldMk cId="1321998826" sldId="2147474100"/>
            <ac:picMk id="8" creationId="{35A9D05E-BED1-B42F-E6A4-4F5500E16650}"/>
          </ac:picMkLst>
        </pc:picChg>
        <pc:picChg chg="mod">
          <ac:chgData name="Pablo Sanz" userId="b60748b7-f2df-4c57-9ffa-ce60a404c4fa" providerId="ADAL" clId="{3DA5D019-CCA1-4BD5-8367-A08AEC2DFD03}" dt="2026-01-29T14:23:42.149" v="45"/>
          <ac:picMkLst>
            <pc:docMk/>
            <pc:sldMk cId="1321998826" sldId="2147474100"/>
            <ac:picMk id="10" creationId="{EC10D09D-6DAC-DF13-96F5-E0AA32D54361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4B7E6F-32B6-4D71-B377-734A03E6F81B}" type="datetimeFigureOut">
              <a:rPr lang="es-ES" smtClean="0"/>
              <a:t>30/01/2026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2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ED2714-3170-454D-BDE7-33312AC0515C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403692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6DFC6-7D9C-4B63-B8DE-A4BEF9511721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65225" y="1241425"/>
            <a:ext cx="44672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450" y="4776788"/>
            <a:ext cx="5438775" cy="39084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F8B64C-EDD0-41C9-AB7F-26F0E93D38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76416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C425CC-0142-265D-2AEC-7A6F5E0944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E21758AF-0EF8-1E8C-1BF1-680200FE4C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244A8B8-391E-AC02-04D6-89769E49F1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Vamos ahora con Unity </a:t>
            </a:r>
            <a:r>
              <a:rPr lang="es-ES" dirty="0" err="1"/>
              <a:t>Catalog</a:t>
            </a:r>
            <a:r>
              <a:rPr lang="es-ES" dirty="0"/>
              <a:t>….</a:t>
            </a:r>
          </a:p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7BAD300-18A5-A90E-D86A-1BAE966212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F8B64C-EDD0-41C9-AB7F-26F0E93D38A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25037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DF5EB0-122E-0BC0-9B02-6FF2B30C70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CCE5F1-D295-1024-0650-587C904C2B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674CF2-148E-95FE-744B-BAB4558DA2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Data skew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dirty="0"/>
              <a:t>Ejemplo: </a:t>
            </a:r>
            <a:r>
              <a:rPr lang="es-ES" dirty="0" err="1"/>
              <a:t>join</a:t>
            </a:r>
            <a:r>
              <a:rPr lang="es-ES" dirty="0"/>
              <a:t> donde una clave aparece millones de veces.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 err="1"/>
              <a:t>Particionado</a:t>
            </a:r>
            <a:endParaRPr lang="en-US" b="1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dirty="0"/>
              <a:t>Impacto en rendimiento y consumo de memoria.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F32305-85AB-AC9F-A2D9-3E4033FA26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F8B64C-EDD0-41C9-AB7F-26F0E93D38A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40888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C732CD-62D1-A783-A43F-3B81CE9254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9B2285-733D-C59E-620E-7874463CAE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8ECFB1-1E90-1541-838B-AF47EDC445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Data skew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dirty="0"/>
              <a:t>Ejemplo: </a:t>
            </a:r>
            <a:r>
              <a:rPr lang="es-ES" dirty="0" err="1"/>
              <a:t>join</a:t>
            </a:r>
            <a:r>
              <a:rPr lang="es-ES" dirty="0"/>
              <a:t> donde una clave aparece millones de veces.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 err="1"/>
              <a:t>Particionado</a:t>
            </a:r>
            <a:endParaRPr lang="en-US" b="1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dirty="0"/>
              <a:t>Impacto en rendimiento y consumo de memoria.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068A61-CA26-502C-EC6D-F976684008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F8B64C-EDD0-41C9-AB7F-26F0E93D38A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83629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8DB571-A625-D97A-3F1A-E9E01B0602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B00FF99-4E8F-DE66-887F-36E234D045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85049056-6C9F-BA8C-5AA3-61CD031829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Vamos ahora con Unity </a:t>
            </a:r>
            <a:r>
              <a:rPr lang="es-ES" dirty="0" err="1"/>
              <a:t>Catalog</a:t>
            </a:r>
            <a:r>
              <a:rPr lang="es-ES" dirty="0"/>
              <a:t>….</a:t>
            </a:r>
          </a:p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422CD4B-BF5A-FE65-29C5-B8A760772C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F8B64C-EDD0-41C9-AB7F-26F0E93D38A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3424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697DD6-C3EF-4EDC-A764-DBBB13B383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44B237E-3366-49DC-A5B2-875AB14CB4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13 Rectángulo">
            <a:extLst>
              <a:ext uri="{FF2B5EF4-FFF2-40B4-BE49-F238E27FC236}">
                <a16:creationId xmlns:a16="http://schemas.microsoft.com/office/drawing/2014/main" id="{D6C32259-CF4F-40D9-87EA-B3A647A1591D}"/>
              </a:ext>
            </a:extLst>
          </p:cNvPr>
          <p:cNvSpPr/>
          <p:nvPr userDrawn="1"/>
        </p:nvSpPr>
        <p:spPr>
          <a:xfrm>
            <a:off x="0" y="6179372"/>
            <a:ext cx="9144000" cy="692696"/>
          </a:xfrm>
          <a:prstGeom prst="rect">
            <a:avLst/>
          </a:prstGeom>
          <a:solidFill>
            <a:srgbClr val="0035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8" name="Picture 4" descr="http://www.ceste.es/wp-content/uploads/2016/06/CESTE-Diamante.png">
            <a:extLst>
              <a:ext uri="{FF2B5EF4-FFF2-40B4-BE49-F238E27FC236}">
                <a16:creationId xmlns:a16="http://schemas.microsoft.com/office/drawing/2014/main" id="{B3E2DF03-2CE7-4A9C-A771-591251BBF9A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259632" y="5883964"/>
            <a:ext cx="602632" cy="604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19 Imagen" descr="CESTE blanco estrella roja sin coletilla.png">
            <a:extLst>
              <a:ext uri="{FF2B5EF4-FFF2-40B4-BE49-F238E27FC236}">
                <a16:creationId xmlns:a16="http://schemas.microsoft.com/office/drawing/2014/main" id="{AE4FCCDC-943C-4720-9545-D9B580615FA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7452320" y="6184800"/>
            <a:ext cx="1368152" cy="654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35777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5EA877-320E-4E53-A0C7-FC3A97FFA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62BCAAD-0433-4C53-959E-D88902C1DF0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196752"/>
            <a:ext cx="3867150" cy="4351338"/>
          </a:xfrm>
        </p:spPr>
        <p:txBody>
          <a:bodyPr/>
          <a:lstStyle/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45E6915-382E-4217-ACD9-6D01360622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196752"/>
            <a:ext cx="386715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8" name="13 Rectángulo">
            <a:extLst>
              <a:ext uri="{FF2B5EF4-FFF2-40B4-BE49-F238E27FC236}">
                <a16:creationId xmlns:a16="http://schemas.microsoft.com/office/drawing/2014/main" id="{C0036AAF-5A53-4151-90BE-48F07F7AB8C7}"/>
              </a:ext>
            </a:extLst>
          </p:cNvPr>
          <p:cNvSpPr/>
          <p:nvPr userDrawn="1"/>
        </p:nvSpPr>
        <p:spPr>
          <a:xfrm>
            <a:off x="0" y="6179372"/>
            <a:ext cx="9144000" cy="692696"/>
          </a:xfrm>
          <a:prstGeom prst="rect">
            <a:avLst/>
          </a:prstGeom>
          <a:solidFill>
            <a:srgbClr val="0035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9" name="Picture 4" descr="http://www.ceste.es/wp-content/uploads/2016/06/CESTE-Diamante.png">
            <a:extLst>
              <a:ext uri="{FF2B5EF4-FFF2-40B4-BE49-F238E27FC236}">
                <a16:creationId xmlns:a16="http://schemas.microsoft.com/office/drawing/2014/main" id="{B0E4B335-D332-4E06-AE4D-5E17D86033F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259632" y="5883964"/>
            <a:ext cx="602632" cy="604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19 Imagen" descr="CESTE blanco estrella roja sin coletilla.png">
            <a:extLst>
              <a:ext uri="{FF2B5EF4-FFF2-40B4-BE49-F238E27FC236}">
                <a16:creationId xmlns:a16="http://schemas.microsoft.com/office/drawing/2014/main" id="{13C02505-FECE-4A29-9F34-42CD3910D90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7452320" y="6184800"/>
            <a:ext cx="1368152" cy="654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62495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4EEDE8-238D-431B-9E02-ECEA5C508D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543595"/>
          </a:xfrm>
        </p:spPr>
        <p:txBody>
          <a:bodyPr/>
          <a:lstStyle/>
          <a:p>
            <a:r>
              <a:rPr lang="es-ES" dirty="0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94FC885-D21E-4C6F-92A4-7DF46EB72A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152748"/>
            <a:ext cx="3868737" cy="692076"/>
          </a:xfrm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dirty="0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6430F69-62A4-47BE-B8E1-BDB77F91F1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1976660"/>
            <a:ext cx="386873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0336B7D7-2137-443B-B8F2-2827DBA756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152748"/>
            <a:ext cx="3887788" cy="692076"/>
          </a:xfrm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dirty="0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1A41CAA0-A338-4726-AD36-E9CAB2E329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976660"/>
            <a:ext cx="38877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10" name="13 Rectángulo">
            <a:extLst>
              <a:ext uri="{FF2B5EF4-FFF2-40B4-BE49-F238E27FC236}">
                <a16:creationId xmlns:a16="http://schemas.microsoft.com/office/drawing/2014/main" id="{CADFFFF2-D07E-48B3-B746-4C1E4E0D3EE7}"/>
              </a:ext>
            </a:extLst>
          </p:cNvPr>
          <p:cNvSpPr/>
          <p:nvPr userDrawn="1"/>
        </p:nvSpPr>
        <p:spPr>
          <a:xfrm>
            <a:off x="0" y="6179372"/>
            <a:ext cx="9144000" cy="692696"/>
          </a:xfrm>
          <a:prstGeom prst="rect">
            <a:avLst/>
          </a:prstGeom>
          <a:solidFill>
            <a:srgbClr val="0035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11" name="Picture 4" descr="http://www.ceste.es/wp-content/uploads/2016/06/CESTE-Diamante.png">
            <a:extLst>
              <a:ext uri="{FF2B5EF4-FFF2-40B4-BE49-F238E27FC236}">
                <a16:creationId xmlns:a16="http://schemas.microsoft.com/office/drawing/2014/main" id="{926C383A-DA23-4774-90AB-96458016A66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259632" y="5883964"/>
            <a:ext cx="602632" cy="604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19 Imagen" descr="CESTE blanco estrella roja sin coletilla.png">
            <a:extLst>
              <a:ext uri="{FF2B5EF4-FFF2-40B4-BE49-F238E27FC236}">
                <a16:creationId xmlns:a16="http://schemas.microsoft.com/office/drawing/2014/main" id="{372DB351-4074-41B1-8D78-45083290FCE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7452320" y="6184800"/>
            <a:ext cx="1368152" cy="654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77150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023340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5E6F0CB5-4C9C-47CC-9AC6-73C1D182B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5435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dirty="0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08939DD-6314-46C2-B153-796562A400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124744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</a:p>
        </p:txBody>
      </p:sp>
    </p:spTree>
    <p:extLst>
      <p:ext uri="{BB962C8B-B14F-4D97-AF65-F5344CB8AC3E}">
        <p14:creationId xmlns:p14="http://schemas.microsoft.com/office/powerpoint/2010/main" val="25724547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7" r:id="rId2"/>
    <p:sldLayoutId id="2147483658" r:id="rId3"/>
    <p:sldLayoutId id="2147483659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hyperlink" Target="http://www.linkedin.com/in/pablosanzcaperote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Una mujer en frente de laptop&#10;&#10;Descripción generada automáticamente">
            <a:extLst>
              <a:ext uri="{FF2B5EF4-FFF2-40B4-BE49-F238E27FC236}">
                <a16:creationId xmlns:a16="http://schemas.microsoft.com/office/drawing/2014/main" id="{1B2DE7D5-11AB-4593-8E63-D175747460F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43" r="9979"/>
          <a:stretch/>
        </p:blipFill>
        <p:spPr>
          <a:xfrm>
            <a:off x="0" y="-20033"/>
            <a:ext cx="9144000" cy="6905417"/>
          </a:xfrm>
          <a:prstGeom prst="rect">
            <a:avLst/>
          </a:prstGeom>
        </p:spPr>
      </p:pic>
      <p:sp>
        <p:nvSpPr>
          <p:cNvPr id="5" name="12 Rectángulo">
            <a:extLst>
              <a:ext uri="{FF2B5EF4-FFF2-40B4-BE49-F238E27FC236}">
                <a16:creationId xmlns:a16="http://schemas.microsoft.com/office/drawing/2014/main" id="{16DA3BB4-B192-47D7-B785-553D283516FF}"/>
              </a:ext>
            </a:extLst>
          </p:cNvPr>
          <p:cNvSpPr/>
          <p:nvPr/>
        </p:nvSpPr>
        <p:spPr>
          <a:xfrm>
            <a:off x="1282604" y="519466"/>
            <a:ext cx="3816424" cy="2549494"/>
          </a:xfrm>
          <a:prstGeom prst="rect">
            <a:avLst/>
          </a:prstGeom>
          <a:solidFill>
            <a:srgbClr val="003594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grpSp>
        <p:nvGrpSpPr>
          <p:cNvPr id="6" name="Grupo 5">
            <a:extLst>
              <a:ext uri="{FF2B5EF4-FFF2-40B4-BE49-F238E27FC236}">
                <a16:creationId xmlns:a16="http://schemas.microsoft.com/office/drawing/2014/main" id="{739E4FC8-D959-4548-BC2D-FFB66F30D630}"/>
              </a:ext>
            </a:extLst>
          </p:cNvPr>
          <p:cNvGrpSpPr/>
          <p:nvPr/>
        </p:nvGrpSpPr>
        <p:grpSpPr>
          <a:xfrm>
            <a:off x="1358758" y="1068907"/>
            <a:ext cx="4365370" cy="1915534"/>
            <a:chOff x="560503" y="937402"/>
            <a:chExt cx="4365370" cy="1915534"/>
          </a:xfrm>
        </p:grpSpPr>
        <p:sp>
          <p:nvSpPr>
            <p:cNvPr id="7" name="1 Título">
              <a:extLst>
                <a:ext uri="{FF2B5EF4-FFF2-40B4-BE49-F238E27FC236}">
                  <a16:creationId xmlns:a16="http://schemas.microsoft.com/office/drawing/2014/main" id="{69E1C32A-6BA1-4445-86AA-71F7AA080899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560503" y="937402"/>
              <a:ext cx="4365370" cy="581961"/>
            </a:xfrm>
            <a:prstGeom prst="rect">
              <a:avLst/>
            </a:prstGeom>
          </p:spPr>
          <p:txBody>
            <a:bodyPr>
              <a:noAutofit/>
            </a:bodyPr>
            <a:lstStyle>
              <a:lvl1pPr algn="l">
                <a:defRPr sz="3600" b="1">
                  <a:solidFill>
                    <a:schemeClr val="bg1"/>
                  </a:solidFill>
                  <a:latin typeface="+mn-lt"/>
                  <a:cs typeface="Arial" pitchFamily="34" charset="0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S" sz="36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ea typeface="+mj-ea"/>
                  <a:cs typeface="Arial" pitchFamily="34" charset="0"/>
                </a:rPr>
                <a:t>CESTE</a:t>
              </a:r>
            </a:p>
          </p:txBody>
        </p:sp>
        <p:sp>
          <p:nvSpPr>
            <p:cNvPr id="8" name="2 Subtítulo">
              <a:extLst>
                <a:ext uri="{FF2B5EF4-FFF2-40B4-BE49-F238E27FC236}">
                  <a16:creationId xmlns:a16="http://schemas.microsoft.com/office/drawing/2014/main" id="{52C02F8F-E868-4CC8-9231-CE3B8698C2ED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560503" y="2383459"/>
              <a:ext cx="4365370" cy="469477"/>
            </a:xfrm>
            <a:prstGeom prst="rect">
              <a:avLst/>
            </a:prstGeom>
          </p:spPr>
          <p:txBody>
            <a:bodyPr>
              <a:normAutofit/>
            </a:bodyPr>
            <a:lstStyle>
              <a:lvl1pPr marL="0" indent="0" algn="l">
                <a:buNone/>
                <a:defRPr sz="2000" baseline="0">
                  <a:solidFill>
                    <a:schemeClr val="bg1"/>
                  </a:solidFill>
                  <a:latin typeface="+mn-lt"/>
                  <a:cs typeface="Arial" pitchFamily="34" charset="0"/>
                </a:defRPr>
              </a:lvl1pPr>
              <a:lvl2pPr marL="457200" indent="0" algn="ctr">
                <a:buNone/>
                <a:defRPr>
                  <a:solidFill>
                    <a:schemeClr val="tx1">
                      <a:tint val="75000"/>
                    </a:schemeClr>
                  </a:solidFill>
                </a:defRPr>
              </a:lvl2pPr>
              <a:lvl3pPr marL="914400" indent="0" algn="ctr">
                <a:buNone/>
                <a:defRPr>
                  <a:solidFill>
                    <a:schemeClr val="tx1">
                      <a:tint val="75000"/>
                    </a:schemeClr>
                  </a:solidFill>
                </a:defRPr>
              </a:lvl3pPr>
              <a:lvl4pPr marL="1371600" indent="0" algn="ctr">
                <a:buNone/>
                <a:defRPr>
                  <a:solidFill>
                    <a:schemeClr val="tx1">
                      <a:tint val="75000"/>
                    </a:schemeClr>
                  </a:solidFill>
                </a:defRPr>
              </a:lvl4pPr>
              <a:lvl5pPr marL="1828800" indent="0" algn="ctr">
                <a:buNone/>
                <a:defRPr>
                  <a:solidFill>
                    <a:schemeClr val="tx1">
                      <a:tint val="75000"/>
                    </a:schemeClr>
                  </a:solidFill>
                </a:defRPr>
              </a:lvl5pPr>
              <a:lvl6pPr marL="2286000" indent="0" algn="ctr">
                <a:buNone/>
                <a:defRPr>
                  <a:solidFill>
                    <a:schemeClr val="tx1">
                      <a:tint val="75000"/>
                    </a:schemeClr>
                  </a:solidFill>
                </a:defRPr>
              </a:lvl6pPr>
              <a:lvl7pPr marL="2743200" indent="0" algn="ctr">
                <a:buNone/>
                <a:defRPr>
                  <a:solidFill>
                    <a:schemeClr val="tx1">
                      <a:tint val="75000"/>
                    </a:schemeClr>
                  </a:solidFill>
                </a:defRPr>
              </a:lvl7pPr>
              <a:lvl8pPr marL="3200400" indent="0" algn="ctr">
                <a:buNone/>
                <a:defRPr>
                  <a:solidFill>
                    <a:schemeClr val="tx1">
                      <a:tint val="75000"/>
                    </a:schemeClr>
                  </a:solidFill>
                </a:defRPr>
              </a:lvl8pPr>
              <a:lvl9pPr marL="3657600" indent="0" algn="ctr">
                <a:buNone/>
                <a:defRPr>
                  <a:solidFill>
                    <a:schemeClr val="tx1">
                      <a:tint val="75000"/>
                    </a:schemeClr>
                  </a:solidFill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 typeface="Arial" pitchFamily="34" charset="0"/>
                <a:buNone/>
                <a:tabLst/>
                <a:defRPr/>
              </a:pPr>
              <a:r>
                <a:rPr kumimoji="0" lang="es-ES" sz="20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ea typeface="+mn-ea"/>
                  <a:cs typeface="Arial" pitchFamily="34" charset="0"/>
                </a:rPr>
                <a:t>Zaragoza (España)</a:t>
              </a:r>
            </a:p>
          </p:txBody>
        </p:sp>
        <p:sp>
          <p:nvSpPr>
            <p:cNvPr id="9" name="1 Título">
              <a:extLst>
                <a:ext uri="{FF2B5EF4-FFF2-40B4-BE49-F238E27FC236}">
                  <a16:creationId xmlns:a16="http://schemas.microsoft.com/office/drawing/2014/main" id="{FFCCC8ED-BFDD-40C2-9384-6051B135D316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560503" y="1087315"/>
              <a:ext cx="3501770" cy="1634051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>
                <a:defRPr sz="2800" b="1">
                  <a:solidFill>
                    <a:schemeClr val="bg1"/>
                  </a:solidFill>
                  <a:latin typeface="+mn-lt"/>
                  <a:cs typeface="Arial" pitchFamily="34" charset="0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S" sz="28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ea typeface="+mj-ea"/>
                  <a:cs typeface="Arial" pitchFamily="34" charset="0"/>
                </a:rPr>
                <a:t>Escuela Internacional de Negocios</a:t>
              </a:r>
            </a:p>
          </p:txBody>
        </p:sp>
      </p:grpSp>
      <p:sp>
        <p:nvSpPr>
          <p:cNvPr id="11" name="7 Rectángulo">
            <a:extLst>
              <a:ext uri="{FF2B5EF4-FFF2-40B4-BE49-F238E27FC236}">
                <a16:creationId xmlns:a16="http://schemas.microsoft.com/office/drawing/2014/main" id="{EA4F64AD-90F0-48AB-9FF8-1C33D6875C8F}"/>
              </a:ext>
            </a:extLst>
          </p:cNvPr>
          <p:cNvSpPr/>
          <p:nvPr/>
        </p:nvSpPr>
        <p:spPr>
          <a:xfrm>
            <a:off x="895446" y="6682676"/>
            <a:ext cx="8248554" cy="202708"/>
          </a:xfrm>
          <a:prstGeom prst="rect">
            <a:avLst/>
          </a:prstGeom>
          <a:solidFill>
            <a:srgbClr val="0035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12" name="Picture 4" descr="http://www.ceste.es/wp-content/uploads/2016/06/CESTE-Diamante.png">
            <a:extLst>
              <a:ext uri="{FF2B5EF4-FFF2-40B4-BE49-F238E27FC236}">
                <a16:creationId xmlns:a16="http://schemas.microsoft.com/office/drawing/2014/main" id="{29C61ABE-ECA3-4141-A971-81B9DEAA27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594130" y="6582971"/>
            <a:ext cx="602632" cy="604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7 Rectángulo">
            <a:extLst>
              <a:ext uri="{FF2B5EF4-FFF2-40B4-BE49-F238E27FC236}">
                <a16:creationId xmlns:a16="http://schemas.microsoft.com/office/drawing/2014/main" id="{AA627398-F4D7-4381-808D-80D5F1F3EB48}"/>
              </a:ext>
            </a:extLst>
          </p:cNvPr>
          <p:cNvSpPr/>
          <p:nvPr/>
        </p:nvSpPr>
        <p:spPr>
          <a:xfrm>
            <a:off x="0" y="-14102"/>
            <a:ext cx="8248554" cy="202708"/>
          </a:xfrm>
          <a:prstGeom prst="rect">
            <a:avLst/>
          </a:prstGeom>
          <a:solidFill>
            <a:srgbClr val="0035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14" name="Picture 4" descr="http://www.ceste.es/wp-content/uploads/2016/06/CESTE-Diamante.png">
            <a:extLst>
              <a:ext uri="{FF2B5EF4-FFF2-40B4-BE49-F238E27FC236}">
                <a16:creationId xmlns:a16="http://schemas.microsoft.com/office/drawing/2014/main" id="{0A8F8B0D-2FAA-485C-9D78-273EB1B0AE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7947238" y="-316515"/>
            <a:ext cx="602632" cy="604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Imagen 2" descr="Logotipo&#10;&#10;Descripción generada automáticamente">
            <a:extLst>
              <a:ext uri="{FF2B5EF4-FFF2-40B4-BE49-F238E27FC236}">
                <a16:creationId xmlns:a16="http://schemas.microsoft.com/office/drawing/2014/main" id="{EC902A68-A05E-4C30-9FDE-A0B9A7E87B8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8908" y="614880"/>
            <a:ext cx="1512664" cy="739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14117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07CA8ACE-8229-462D-A48C-A7D84E2410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¿Quién soy?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08484274-BA79-4C9E-8923-FD8913A6A8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28567"/>
            <a:ext cx="7886700" cy="4392488"/>
          </a:xfrm>
        </p:spPr>
        <p:txBody>
          <a:bodyPr>
            <a:normAutofit/>
          </a:bodyPr>
          <a:lstStyle/>
          <a:p>
            <a:r>
              <a:rPr lang="es-ES" dirty="0"/>
              <a:t>Pablo Sanz </a:t>
            </a:r>
            <a:r>
              <a:rPr lang="es-ES" dirty="0" err="1"/>
              <a:t>Caperote</a:t>
            </a:r>
            <a:endParaRPr lang="es-ES" dirty="0"/>
          </a:p>
          <a:p>
            <a:endParaRPr lang="es-ES" dirty="0"/>
          </a:p>
          <a:p>
            <a:r>
              <a:rPr lang="es-ES" dirty="0"/>
              <a:t>Doble Grado en Ingeniería Informática – Matemáticas</a:t>
            </a:r>
          </a:p>
          <a:p>
            <a:endParaRPr lang="es-ES" dirty="0"/>
          </a:p>
          <a:p>
            <a:r>
              <a:rPr lang="es-ES" dirty="0"/>
              <a:t>Profesional con más de 4 años de experiencia entorno al mundo de los datos.</a:t>
            </a:r>
          </a:p>
          <a:p>
            <a:endParaRPr lang="es-ES" dirty="0"/>
          </a:p>
          <a:p>
            <a:r>
              <a:rPr lang="es-ES" dirty="0"/>
              <a:t>Casi 2 años trabajando con </a:t>
            </a:r>
            <a:r>
              <a:rPr lang="es-ES" dirty="0" err="1"/>
              <a:t>Databricks</a:t>
            </a:r>
            <a:endParaRPr lang="es-ES" dirty="0"/>
          </a:p>
          <a:p>
            <a:endParaRPr lang="es-ES" dirty="0"/>
          </a:p>
          <a:p>
            <a:r>
              <a:rPr lang="es-ES" dirty="0"/>
              <a:t>Varias certificaciones en </a:t>
            </a:r>
            <a:r>
              <a:rPr lang="es-ES" dirty="0" err="1"/>
              <a:t>Clouds</a:t>
            </a:r>
            <a:r>
              <a:rPr lang="es-ES" dirty="0"/>
              <a:t> (AWS, Azure, GCP)</a:t>
            </a:r>
          </a:p>
        </p:txBody>
      </p:sp>
      <p:pic>
        <p:nvPicPr>
          <p:cNvPr id="3" name="Picture 2" descr="A person in a blue suit&#10;&#10;AI-generated content may be incorrect.">
            <a:extLst>
              <a:ext uri="{FF2B5EF4-FFF2-40B4-BE49-F238E27FC236}">
                <a16:creationId xmlns:a16="http://schemas.microsoft.com/office/drawing/2014/main" id="{9BDC8E4B-EF5B-569E-DCCA-D6C0F6FE7D8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238" t="19626" r="8797" b="19187"/>
          <a:stretch/>
        </p:blipFill>
        <p:spPr>
          <a:xfrm>
            <a:off x="6714356" y="170638"/>
            <a:ext cx="1800200" cy="1908212"/>
          </a:xfrm>
          <a:prstGeom prst="ellipse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B5301FA-022B-9DAA-2979-7B704D9BA4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1800" y="5721635"/>
            <a:ext cx="278160" cy="27816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8E41BCB-D086-EBC0-7C16-34EC068C1E19}"/>
              </a:ext>
            </a:extLst>
          </p:cNvPr>
          <p:cNvSpPr txBox="1"/>
          <p:nvPr/>
        </p:nvSpPr>
        <p:spPr>
          <a:xfrm>
            <a:off x="3036615" y="5722216"/>
            <a:ext cx="274617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>
              <a:buNone/>
            </a:pPr>
            <a:r>
              <a:rPr lang="en-US" sz="1200" b="0" i="0" dirty="0">
                <a:effectLst/>
                <a:latin typeface="-apple-system"/>
                <a:hlinkClick r:id="rId4"/>
              </a:rPr>
              <a:t>www.linkedin.com/in/pablosanzcaperote</a:t>
            </a:r>
            <a:endParaRPr lang="en-US" sz="1200" b="0" i="0" dirty="0"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16486225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60000"/>
            <a:lumOff val="4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5810ED0-91F9-90D3-C106-E5114689EB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F4C3C670-D8DC-AA77-6533-2CBF6F5CFA03}"/>
              </a:ext>
            </a:extLst>
          </p:cNvPr>
          <p:cNvSpPr txBox="1"/>
          <p:nvPr/>
        </p:nvSpPr>
        <p:spPr>
          <a:xfrm>
            <a:off x="1619672" y="2760676"/>
            <a:ext cx="583264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100" dirty="0">
                <a:solidFill>
                  <a:schemeClr val="bg1"/>
                </a:solidFill>
                <a:latin typeface="Montserrat" panose="00000500000000000000" pitchFamily="2" charset="0"/>
              </a:rPr>
              <a:t>Introducción a Apache </a:t>
            </a:r>
            <a:r>
              <a:rPr lang="es-ES" sz="2100" dirty="0" err="1">
                <a:solidFill>
                  <a:schemeClr val="bg1"/>
                </a:solidFill>
                <a:latin typeface="Montserrat" panose="00000500000000000000" pitchFamily="2" charset="0"/>
              </a:rPr>
              <a:t>Spark</a:t>
            </a:r>
            <a:r>
              <a:rPr lang="es-ES" sz="2100" dirty="0">
                <a:solidFill>
                  <a:schemeClr val="bg1"/>
                </a:solidFill>
                <a:latin typeface="Montserrat" panose="00000500000000000000" pitchFamily="2" charset="0"/>
              </a:rPr>
              <a:t>: </a:t>
            </a:r>
            <a:r>
              <a:rPr lang="es-ES" sz="2100" dirty="0" err="1">
                <a:solidFill>
                  <a:schemeClr val="bg1"/>
                </a:solidFill>
                <a:latin typeface="Montserrat" panose="00000500000000000000" pitchFamily="2" charset="0"/>
              </a:rPr>
              <a:t>RDDs</a:t>
            </a:r>
            <a:r>
              <a:rPr lang="es-ES" sz="2100" dirty="0">
                <a:solidFill>
                  <a:schemeClr val="bg1"/>
                </a:solidFill>
                <a:latin typeface="Montserrat" panose="00000500000000000000" pitchFamily="2" charset="0"/>
              </a:rPr>
              <a:t>, </a:t>
            </a:r>
            <a:r>
              <a:rPr lang="es-ES" sz="2100" dirty="0" err="1">
                <a:solidFill>
                  <a:schemeClr val="bg1"/>
                </a:solidFill>
                <a:latin typeface="Montserrat" panose="00000500000000000000" pitchFamily="2" charset="0"/>
              </a:rPr>
              <a:t>DataFrames</a:t>
            </a:r>
            <a:r>
              <a:rPr lang="es-ES" sz="2100" dirty="0">
                <a:solidFill>
                  <a:schemeClr val="bg1"/>
                </a:solidFill>
                <a:latin typeface="Montserrat" panose="00000500000000000000" pitchFamily="2" charset="0"/>
              </a:rPr>
              <a:t>, </a:t>
            </a:r>
            <a:r>
              <a:rPr lang="es-ES" sz="2100" dirty="0" err="1">
                <a:solidFill>
                  <a:schemeClr val="bg1"/>
                </a:solidFill>
                <a:latin typeface="Montserrat" panose="00000500000000000000" pitchFamily="2" charset="0"/>
              </a:rPr>
              <a:t>Datasets</a:t>
            </a:r>
            <a:r>
              <a:rPr lang="es-ES" sz="2100" dirty="0">
                <a:solidFill>
                  <a:schemeClr val="bg1"/>
                </a:solidFill>
                <a:latin typeface="Montserrat" panose="00000500000000000000" pitchFamily="2" charset="0"/>
              </a:rPr>
              <a:t> y </a:t>
            </a:r>
            <a:r>
              <a:rPr lang="es-ES" sz="2100" dirty="0" err="1">
                <a:solidFill>
                  <a:schemeClr val="bg1"/>
                </a:solidFill>
                <a:latin typeface="Montserrat" panose="00000500000000000000" pitchFamily="2" charset="0"/>
              </a:rPr>
              <a:t>Spark</a:t>
            </a:r>
            <a:r>
              <a:rPr lang="es-ES" sz="2100" dirty="0">
                <a:solidFill>
                  <a:schemeClr val="bg1"/>
                </a:solidFill>
                <a:latin typeface="Montserrat" panose="00000500000000000000" pitchFamily="2" charset="0"/>
              </a:rPr>
              <a:t> SQL</a:t>
            </a:r>
          </a:p>
        </p:txBody>
      </p:sp>
    </p:spTree>
    <p:extLst>
      <p:ext uri="{BB962C8B-B14F-4D97-AF65-F5344CB8AC3E}">
        <p14:creationId xmlns:p14="http://schemas.microsoft.com/office/powerpoint/2010/main" val="37560440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D21889-7CE4-0BE2-70E0-EFFE710F95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84411A56-3C66-0378-7DDF-57703D25D6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Índice </a:t>
            </a:r>
            <a:r>
              <a:rPr lang="es-ES" dirty="0">
                <a:solidFill>
                  <a:schemeClr val="accent1"/>
                </a:solidFill>
              </a:rPr>
              <a:t>| Fundamentos y diagnóstico de rendimiento</a:t>
            </a:r>
            <a:endParaRPr lang="es-ES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2898FEF-C50C-F417-DDD6-D89955F56D1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28650" y="2330919"/>
            <a:ext cx="3039615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dirty="0">
                <a:latin typeface="Arial" panose="020B0604020202020204" pitchFamily="34" charset="0"/>
              </a:rPr>
              <a:t>¿</a:t>
            </a:r>
            <a:r>
              <a:rPr lang="en-US" altLang="en-US" dirty="0" err="1">
                <a:latin typeface="Arial" panose="020B0604020202020204" pitchFamily="34" charset="0"/>
              </a:rPr>
              <a:t>Qué</a:t>
            </a:r>
            <a:r>
              <a:rPr lang="en-US" altLang="en-US" dirty="0">
                <a:latin typeface="Arial" panose="020B0604020202020204" pitchFamily="34" charset="0"/>
              </a:rPr>
              <a:t> es spark?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Estructura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datos</a:t>
            </a: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Funciones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pyspark</a:t>
            </a: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09534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9DFB4F-2EB2-657C-FC57-23D4D6E90B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01E8EAE6-3201-6D71-CF4A-C52F242D45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/>
              <a:t>Objetivos </a:t>
            </a:r>
            <a:r>
              <a:rPr lang="es-ES" dirty="0">
                <a:solidFill>
                  <a:schemeClr val="accent1"/>
                </a:solidFill>
              </a:rPr>
              <a:t>| Una primera toma de contacto con </a:t>
            </a:r>
            <a:r>
              <a:rPr lang="es-ES" dirty="0" err="1">
                <a:solidFill>
                  <a:schemeClr val="accent1"/>
                </a:solidFill>
              </a:rPr>
              <a:t>Spark</a:t>
            </a:r>
            <a:r>
              <a:rPr lang="es-ES" dirty="0">
                <a:solidFill>
                  <a:schemeClr val="accent1"/>
                </a:solidFill>
              </a:rPr>
              <a:t> y </a:t>
            </a:r>
            <a:r>
              <a:rPr lang="es-ES" dirty="0" err="1">
                <a:solidFill>
                  <a:schemeClr val="accent1"/>
                </a:solidFill>
              </a:rPr>
              <a:t>PySpark</a:t>
            </a:r>
            <a:endParaRPr lang="es-ES" dirty="0"/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F4014B3A-F31F-D48C-E119-0B7C0F9C63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75856" y="1854696"/>
            <a:ext cx="5095478" cy="3148608"/>
          </a:xfrm>
        </p:spPr>
        <p:txBody>
          <a:bodyPr>
            <a:normAutofit/>
          </a:bodyPr>
          <a:lstStyle/>
          <a:p>
            <a:pPr marL="266700" indent="-266700">
              <a:buFont typeface="+mj-lt"/>
              <a:buAutoNum type="arabicPeriod"/>
            </a:pPr>
            <a:r>
              <a:rPr lang="es-ES" dirty="0"/>
              <a:t>Entender </a:t>
            </a:r>
            <a:r>
              <a:rPr lang="es-ES" dirty="0" err="1"/>
              <a:t>Spark</a:t>
            </a:r>
            <a:r>
              <a:rPr lang="es-ES" dirty="0"/>
              <a:t> y sus principales </a:t>
            </a:r>
            <a:r>
              <a:rPr lang="es-ES" dirty="0" err="1"/>
              <a:t>componenentes</a:t>
            </a:r>
            <a:endParaRPr lang="es-ES" dirty="0"/>
          </a:p>
          <a:p>
            <a:pPr marL="266700" indent="-266700">
              <a:buFont typeface="+mj-lt"/>
              <a:buAutoNum type="arabicPeriod"/>
            </a:pPr>
            <a:endParaRPr lang="es-ES" dirty="0"/>
          </a:p>
          <a:p>
            <a:pPr marL="266700" indent="-266700">
              <a:buFont typeface="+mj-lt"/>
              <a:buAutoNum type="arabicPeriod"/>
            </a:pPr>
            <a:r>
              <a:rPr lang="es-ES" dirty="0"/>
              <a:t>Uso de Notebooks en </a:t>
            </a:r>
            <a:r>
              <a:rPr lang="es-ES" dirty="0" err="1"/>
              <a:t>Databricks</a:t>
            </a:r>
            <a:endParaRPr lang="es-ES" dirty="0"/>
          </a:p>
          <a:p>
            <a:pPr marL="266700" indent="-266700">
              <a:buFont typeface="+mj-lt"/>
              <a:buAutoNum type="arabicPeriod"/>
            </a:pPr>
            <a:endParaRPr lang="es-ES" dirty="0"/>
          </a:p>
          <a:p>
            <a:pPr marL="266700" indent="-266700">
              <a:buFont typeface="+mj-lt"/>
              <a:buAutoNum type="arabicPeriod"/>
            </a:pPr>
            <a:r>
              <a:rPr lang="es-ES" dirty="0"/>
              <a:t>Uso de </a:t>
            </a:r>
            <a:r>
              <a:rPr lang="es-ES" dirty="0" err="1"/>
              <a:t>dbutils</a:t>
            </a:r>
            <a:endParaRPr lang="es-ES" dirty="0"/>
          </a:p>
          <a:p>
            <a:pPr marL="266700" indent="-266700">
              <a:buFont typeface="+mj-lt"/>
              <a:buAutoNum type="arabicPeriod"/>
            </a:pPr>
            <a:endParaRPr lang="es-ES" dirty="0"/>
          </a:p>
          <a:p>
            <a:pPr marL="266700" indent="-266700">
              <a:buFont typeface="+mj-lt"/>
              <a:buAutoNum type="arabicPeriod"/>
            </a:pPr>
            <a:r>
              <a:rPr lang="es-ES" dirty="0"/>
              <a:t>Ejercicios sobre </a:t>
            </a:r>
            <a:r>
              <a:rPr lang="es-ES" dirty="0" err="1"/>
              <a:t>Spark</a:t>
            </a:r>
            <a:endParaRPr lang="es-E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31D3D4D-9236-BC26-FE9A-0BA0BBB136C1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28650" y="2420888"/>
            <a:ext cx="2212504" cy="2212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61140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F71746-5700-62F8-E94B-CAD282255E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07A243EF-5668-8B55-5BA7-0F3C097E6D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/>
              <a:t>¿Qué es Apache </a:t>
            </a:r>
            <a:r>
              <a:rPr lang="es-ES" dirty="0" err="1"/>
              <a:t>Spark</a:t>
            </a:r>
            <a:r>
              <a:rPr lang="es-ES" dirty="0"/>
              <a:t>? </a:t>
            </a:r>
            <a:r>
              <a:rPr lang="es-ES" dirty="0">
                <a:solidFill>
                  <a:schemeClr val="accent1"/>
                </a:solidFill>
              </a:rPr>
              <a:t>| La mejor forma de tratar un volumen grande de datos</a:t>
            </a:r>
            <a:endParaRPr lang="es-ES" dirty="0"/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5B543C44-2935-3B6D-D16E-2A48320937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75856" y="1854696"/>
            <a:ext cx="5095478" cy="3148608"/>
          </a:xfrm>
        </p:spPr>
        <p:txBody>
          <a:bodyPr>
            <a:normAutofit lnSpcReduction="10000"/>
          </a:bodyPr>
          <a:lstStyle/>
          <a:p>
            <a:pPr marL="266700" indent="-266700">
              <a:buFont typeface="+mj-lt"/>
              <a:buAutoNum type="arabicPeriod"/>
            </a:pPr>
            <a:r>
              <a:rPr lang="es-ES" dirty="0"/>
              <a:t>Motor unificado de analítica para procesar datos a gran escala</a:t>
            </a:r>
          </a:p>
          <a:p>
            <a:pPr marL="266700" indent="-266700">
              <a:buFont typeface="+mj-lt"/>
              <a:buAutoNum type="arabicPeriod"/>
            </a:pPr>
            <a:endParaRPr lang="es-ES" dirty="0"/>
          </a:p>
          <a:p>
            <a:pPr marL="266700" indent="-266700">
              <a:buFont typeface="+mj-lt"/>
              <a:buAutoNum type="arabicPeriod"/>
            </a:pPr>
            <a:r>
              <a:rPr lang="es-ES" dirty="0"/>
              <a:t>Motor de procesamiento distribuido</a:t>
            </a:r>
          </a:p>
          <a:p>
            <a:pPr marL="266700" indent="-266700">
              <a:buFont typeface="+mj-lt"/>
              <a:buAutoNum type="arabicPeriod"/>
            </a:pPr>
            <a:endParaRPr lang="es-ES" dirty="0"/>
          </a:p>
          <a:p>
            <a:pPr marL="266700" indent="-266700">
              <a:buFont typeface="+mj-lt"/>
              <a:buAutoNum type="arabicPeriod"/>
            </a:pPr>
            <a:r>
              <a:rPr lang="es-ES" dirty="0"/>
              <a:t>Permite desarrollo en Java, Scala, Python y R.</a:t>
            </a:r>
          </a:p>
          <a:p>
            <a:pPr marL="266700" indent="-266700">
              <a:buFont typeface="+mj-lt"/>
              <a:buAutoNum type="arabicPeriod"/>
            </a:pPr>
            <a:r>
              <a:rPr lang="en-US" dirty="0" err="1"/>
              <a:t>PySpark</a:t>
            </a:r>
            <a:r>
              <a:rPr lang="en-US" dirty="0"/>
              <a:t> es la </a:t>
            </a:r>
            <a:r>
              <a:rPr lang="en-US" dirty="0" err="1"/>
              <a:t>interfaz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Python de Apache Spark </a:t>
            </a:r>
            <a:endParaRPr lang="es-ES" dirty="0"/>
          </a:p>
        </p:txBody>
      </p:sp>
      <p:pic>
        <p:nvPicPr>
          <p:cNvPr id="1026" name="Picture 2" descr="Apache Spark: Una plataforma de análisis masivo de datos (1) | abxda">
            <a:extLst>
              <a:ext uri="{FF2B5EF4-FFF2-40B4-BE49-F238E27FC236}">
                <a16:creationId xmlns:a16="http://schemas.microsoft.com/office/drawing/2014/main" id="{1BD9B7F9-0CE0-6DC0-0C6E-A7D0B3F0F5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2276872"/>
            <a:ext cx="1646312" cy="1646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40966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DD253F-F689-768D-47F4-607100C5AB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BE888505-4187-6509-657B-C941375055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/>
              <a:t>Estructura de datos en </a:t>
            </a:r>
            <a:r>
              <a:rPr lang="es-ES" dirty="0" err="1"/>
              <a:t>Spark</a:t>
            </a:r>
            <a:r>
              <a:rPr lang="es-ES" dirty="0"/>
              <a:t> </a:t>
            </a:r>
            <a:r>
              <a:rPr lang="es-ES" dirty="0">
                <a:solidFill>
                  <a:schemeClr val="accent1"/>
                </a:solidFill>
              </a:rPr>
              <a:t>| Evolución en busca de mejoras  </a:t>
            </a:r>
            <a:endParaRPr lang="es-E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CF44586-DF82-7BF9-024E-E4A1D6D67392}"/>
              </a:ext>
            </a:extLst>
          </p:cNvPr>
          <p:cNvSpPr/>
          <p:nvPr/>
        </p:nvSpPr>
        <p:spPr>
          <a:xfrm>
            <a:off x="899593" y="1347029"/>
            <a:ext cx="2288388" cy="4086871"/>
          </a:xfrm>
          <a:prstGeom prst="rect">
            <a:avLst/>
          </a:prstGeom>
          <a:solidFill>
            <a:srgbClr val="D9D9D9">
              <a:alpha val="30196"/>
            </a:srgbClr>
          </a:solidFill>
          <a:ln w="9525" cap="rnd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900">
              <a:solidFill>
                <a:schemeClr val="tx1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8635744-A6E4-C9CA-A42C-C2B2C75395B1}"/>
              </a:ext>
            </a:extLst>
          </p:cNvPr>
          <p:cNvSpPr/>
          <p:nvPr/>
        </p:nvSpPr>
        <p:spPr>
          <a:xfrm>
            <a:off x="3463810" y="1347029"/>
            <a:ext cx="2288388" cy="4086874"/>
          </a:xfrm>
          <a:prstGeom prst="rect">
            <a:avLst/>
          </a:prstGeom>
          <a:solidFill>
            <a:srgbClr val="D9D9D9">
              <a:alpha val="30196"/>
            </a:srgbClr>
          </a:solidFill>
          <a:ln w="9525" cap="rnd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900">
              <a:solidFill>
                <a:schemeClr val="tx1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4200EC3-8C0E-E347-54F9-9022A9FF48BB}"/>
              </a:ext>
            </a:extLst>
          </p:cNvPr>
          <p:cNvSpPr/>
          <p:nvPr/>
        </p:nvSpPr>
        <p:spPr>
          <a:xfrm>
            <a:off x="6028028" y="1347029"/>
            <a:ext cx="2288388" cy="4086872"/>
          </a:xfrm>
          <a:prstGeom prst="rect">
            <a:avLst/>
          </a:prstGeom>
          <a:solidFill>
            <a:srgbClr val="D9D9D9">
              <a:alpha val="30196"/>
            </a:srgbClr>
          </a:solidFill>
          <a:ln w="9525" cap="rnd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900">
              <a:solidFill>
                <a:schemeClr val="tx1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281055C-F3AE-5E69-B2DA-A39246E6B4CE}"/>
              </a:ext>
            </a:extLst>
          </p:cNvPr>
          <p:cNvSpPr txBox="1"/>
          <p:nvPr/>
        </p:nvSpPr>
        <p:spPr>
          <a:xfrm>
            <a:off x="1166858" y="1988840"/>
            <a:ext cx="1753860" cy="716098"/>
          </a:xfrm>
          <a:prstGeom prst="rect">
            <a:avLst/>
          </a:prstGeom>
          <a:noFill/>
          <a:ln w="9525" cap="rnd">
            <a:noFill/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685800">
              <a:defRPr/>
            </a:pPr>
            <a:r>
              <a:rPr lang="es-ES" sz="2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RDDs</a:t>
            </a:r>
            <a:endParaRPr lang="es-ES" sz="20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F667271-29E4-67DA-96E4-61CBDD18908F}"/>
              </a:ext>
            </a:extLst>
          </p:cNvPr>
          <p:cNvSpPr txBox="1"/>
          <p:nvPr/>
        </p:nvSpPr>
        <p:spPr>
          <a:xfrm>
            <a:off x="3687569" y="1988840"/>
            <a:ext cx="1840874" cy="716098"/>
          </a:xfrm>
          <a:prstGeom prst="rect">
            <a:avLst/>
          </a:prstGeom>
          <a:noFill/>
          <a:ln w="9525" cap="rnd">
            <a:noFill/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ES" sz="2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DataFrames</a:t>
            </a:r>
            <a:endParaRPr lang="es-ES" sz="20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018C668-22B9-F991-BCE0-4DA341AD7EB3}"/>
              </a:ext>
            </a:extLst>
          </p:cNvPr>
          <p:cNvSpPr txBox="1"/>
          <p:nvPr/>
        </p:nvSpPr>
        <p:spPr>
          <a:xfrm>
            <a:off x="6295293" y="1988840"/>
            <a:ext cx="1753860" cy="716098"/>
          </a:xfrm>
          <a:prstGeom prst="rect">
            <a:avLst/>
          </a:prstGeom>
          <a:noFill/>
          <a:ln w="9525" cap="rnd">
            <a:noFill/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685800">
              <a:defRPr/>
            </a:pPr>
            <a:r>
              <a:rPr lang="es-ES" sz="2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Datasets</a:t>
            </a:r>
            <a:endParaRPr lang="es-ES" sz="20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81D3141-CEAD-10F6-9F55-7FD4875098A6}"/>
              </a:ext>
            </a:extLst>
          </p:cNvPr>
          <p:cNvSpPr txBox="1"/>
          <p:nvPr/>
        </p:nvSpPr>
        <p:spPr>
          <a:xfrm>
            <a:off x="899592" y="3356992"/>
            <a:ext cx="2288388" cy="2076908"/>
          </a:xfrm>
          <a:prstGeom prst="rect">
            <a:avLst/>
          </a:prstGeom>
          <a:solidFill>
            <a:schemeClr val="accent1">
              <a:alpha val="30196"/>
            </a:schemeClr>
          </a:solidFill>
          <a:ln w="9525" cap="rnd">
            <a:noFill/>
            <a:prstDash val="solid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00025" indent="-128588" defTabSz="685800">
              <a:buFont typeface="Arial" panose="020B0604020202020204" pitchFamily="34" charset="0"/>
              <a:buChar char="•"/>
              <a:defRPr/>
            </a:pPr>
            <a:r>
              <a:rPr lang="es-ES" sz="1600" dirty="0">
                <a:solidFill>
                  <a:schemeClr val="tx2">
                    <a:lumMod val="75000"/>
                  </a:schemeClr>
                </a:solidFill>
              </a:rPr>
              <a:t>Estructura fundamental de datos de </a:t>
            </a:r>
            <a:r>
              <a:rPr lang="es-ES" sz="1600" dirty="0" err="1">
                <a:solidFill>
                  <a:schemeClr val="tx2">
                    <a:lumMod val="75000"/>
                  </a:schemeClr>
                </a:solidFill>
              </a:rPr>
              <a:t>Spark</a:t>
            </a:r>
            <a:endParaRPr lang="es-ES" sz="1600" dirty="0">
              <a:solidFill>
                <a:schemeClr val="tx2">
                  <a:lumMod val="75000"/>
                </a:schemeClr>
              </a:solidFill>
            </a:endParaRPr>
          </a:p>
          <a:p>
            <a:pPr marL="200025" indent="-128588" defTabSz="685800">
              <a:buFont typeface="Arial" panose="020B0604020202020204" pitchFamily="34" charset="0"/>
              <a:buChar char="•"/>
              <a:defRPr/>
            </a:pPr>
            <a:r>
              <a:rPr lang="es-ES" sz="1600" dirty="0">
                <a:solidFill>
                  <a:schemeClr val="tx2">
                    <a:lumMod val="75000"/>
                  </a:schemeClr>
                </a:solidFill>
              </a:rPr>
              <a:t>Colección distribuida</a:t>
            </a:r>
          </a:p>
          <a:p>
            <a:pPr marL="200025" indent="-128588" defTabSz="685800">
              <a:buFont typeface="Arial" panose="020B0604020202020204" pitchFamily="34" charset="0"/>
              <a:buChar char="•"/>
              <a:defRPr/>
            </a:pPr>
            <a:r>
              <a:rPr lang="es-ES" sz="1600" dirty="0">
                <a:solidFill>
                  <a:schemeClr val="tx2">
                    <a:lumMod val="75000"/>
                  </a:schemeClr>
                </a:solidFill>
              </a:rPr>
              <a:t>Inmutables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37571F0-949F-BE32-656A-56AA912FCF92}"/>
              </a:ext>
            </a:extLst>
          </p:cNvPr>
          <p:cNvSpPr txBox="1"/>
          <p:nvPr/>
        </p:nvSpPr>
        <p:spPr>
          <a:xfrm>
            <a:off x="3463807" y="3356991"/>
            <a:ext cx="2288388" cy="2076908"/>
          </a:xfrm>
          <a:prstGeom prst="rect">
            <a:avLst/>
          </a:prstGeom>
          <a:solidFill>
            <a:schemeClr val="accent1">
              <a:alpha val="30196"/>
            </a:schemeClr>
          </a:solidFill>
          <a:ln w="9525" cap="rnd">
            <a:noFill/>
            <a:prstDash val="solid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128588" indent="-128588">
              <a:buFont typeface="Arial" panose="020B0604020202020204" pitchFamily="34" charset="0"/>
              <a:buChar char="•"/>
            </a:pPr>
            <a:r>
              <a:rPr lang="es-ES" sz="1600" dirty="0">
                <a:solidFill>
                  <a:schemeClr val="tx2">
                    <a:lumMod val="75000"/>
                  </a:schemeClr>
                </a:solidFill>
              </a:rPr>
              <a:t>Datos </a:t>
            </a:r>
            <a:r>
              <a:rPr lang="es-ES" sz="1600" dirty="0" err="1">
                <a:solidFill>
                  <a:schemeClr val="tx2">
                    <a:lumMod val="75000"/>
                  </a:schemeClr>
                </a:solidFill>
              </a:rPr>
              <a:t>distrubidos</a:t>
            </a:r>
            <a:r>
              <a:rPr lang="es-ES" sz="1600" dirty="0">
                <a:solidFill>
                  <a:schemeClr val="tx2">
                    <a:lumMod val="75000"/>
                  </a:schemeClr>
                </a:solidFill>
              </a:rPr>
              <a:t> de forma tabular</a:t>
            </a:r>
          </a:p>
          <a:p>
            <a:pPr marL="128588" indent="-128588">
              <a:buFont typeface="Arial" panose="020B0604020202020204" pitchFamily="34" charset="0"/>
              <a:buChar char="•"/>
            </a:pPr>
            <a:r>
              <a:rPr lang="es-ES" sz="1600" dirty="0">
                <a:solidFill>
                  <a:schemeClr val="tx2">
                    <a:lumMod val="75000"/>
                  </a:schemeClr>
                </a:solidFill>
              </a:rPr>
              <a:t>Tienen </a:t>
            </a:r>
            <a:r>
              <a:rPr lang="es-ES" sz="1600" dirty="0" err="1">
                <a:solidFill>
                  <a:schemeClr val="tx2">
                    <a:lumMod val="75000"/>
                  </a:schemeClr>
                </a:solidFill>
              </a:rPr>
              <a:t>schema</a:t>
            </a:r>
            <a:endParaRPr lang="es-ES" sz="1600" dirty="0">
              <a:solidFill>
                <a:schemeClr val="tx2">
                  <a:lumMod val="75000"/>
                </a:schemeClr>
              </a:solidFill>
            </a:endParaRPr>
          </a:p>
          <a:p>
            <a:pPr marL="128588" indent="-128588">
              <a:buFont typeface="Arial" panose="020B0604020202020204" pitchFamily="34" charset="0"/>
              <a:buChar char="•"/>
            </a:pPr>
            <a:r>
              <a:rPr lang="es-ES" sz="1600" dirty="0">
                <a:solidFill>
                  <a:schemeClr val="tx2">
                    <a:lumMod val="75000"/>
                  </a:schemeClr>
                </a:solidFill>
              </a:rPr>
              <a:t>Se puede usar SQL </a:t>
            </a:r>
            <a:r>
              <a:rPr lang="es-ES" sz="1600" dirty="0" err="1">
                <a:solidFill>
                  <a:schemeClr val="tx2">
                    <a:lumMod val="75000"/>
                  </a:schemeClr>
                </a:solidFill>
              </a:rPr>
              <a:t>sintax</a:t>
            </a:r>
            <a:endParaRPr lang="en-US" sz="105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D2CA2B6-5C7F-723A-981A-2ACE72330F3A}"/>
              </a:ext>
            </a:extLst>
          </p:cNvPr>
          <p:cNvSpPr txBox="1"/>
          <p:nvPr/>
        </p:nvSpPr>
        <p:spPr>
          <a:xfrm>
            <a:off x="6028019" y="3356993"/>
            <a:ext cx="2288388" cy="2076906"/>
          </a:xfrm>
          <a:prstGeom prst="rect">
            <a:avLst/>
          </a:prstGeom>
          <a:solidFill>
            <a:schemeClr val="accent1">
              <a:alpha val="30196"/>
            </a:schemeClr>
          </a:solidFill>
          <a:ln w="9525" cap="rnd">
            <a:noFill/>
            <a:prstDash val="solid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128588" indent="-128588">
              <a:buFont typeface="Arial" panose="020B0604020202020204" pitchFamily="34" charset="0"/>
              <a:buChar char="•"/>
            </a:pPr>
            <a:r>
              <a:rPr lang="es-ES" sz="1600" dirty="0">
                <a:solidFill>
                  <a:schemeClr val="tx2">
                    <a:lumMod val="75000"/>
                  </a:schemeClr>
                </a:solidFill>
              </a:rPr>
              <a:t>Combina lo mejor de </a:t>
            </a:r>
            <a:r>
              <a:rPr lang="es-ES" sz="1600" dirty="0" err="1">
                <a:solidFill>
                  <a:schemeClr val="tx2">
                    <a:lumMod val="75000"/>
                  </a:schemeClr>
                </a:solidFill>
              </a:rPr>
              <a:t>RDDs</a:t>
            </a:r>
            <a:r>
              <a:rPr lang="es-ES" sz="1600" dirty="0">
                <a:solidFill>
                  <a:schemeClr val="tx2">
                    <a:lumMod val="75000"/>
                  </a:schemeClr>
                </a:solidFill>
              </a:rPr>
              <a:t> y DF</a:t>
            </a:r>
          </a:p>
          <a:p>
            <a:pPr marL="128588" indent="-128588">
              <a:buFont typeface="Arial" panose="020B0604020202020204" pitchFamily="34" charset="0"/>
              <a:buChar char="•"/>
            </a:pPr>
            <a:r>
              <a:rPr lang="es-ES" sz="1600" dirty="0">
                <a:solidFill>
                  <a:schemeClr val="tx2">
                    <a:lumMod val="75000"/>
                  </a:schemeClr>
                </a:solidFill>
              </a:rPr>
              <a:t>Funcionan con datos estructurados y no</a:t>
            </a:r>
          </a:p>
        </p:txBody>
      </p:sp>
    </p:spTree>
    <p:extLst>
      <p:ext uri="{BB962C8B-B14F-4D97-AF65-F5344CB8AC3E}">
        <p14:creationId xmlns:p14="http://schemas.microsoft.com/office/powerpoint/2010/main" val="600016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F334CF-0589-8B6B-BE7D-AEAA9CC8D9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45433D2D-B1F7-C4B1-FEEE-AB46290F11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/>
              <a:t>¿Cómo operar con los datos? </a:t>
            </a:r>
            <a:r>
              <a:rPr lang="es-ES" dirty="0">
                <a:solidFill>
                  <a:schemeClr val="accent1"/>
                </a:solidFill>
              </a:rPr>
              <a:t>| Trasformaciones y acciones</a:t>
            </a:r>
            <a:endParaRPr lang="es-E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F20CE92-BBDE-0FEC-2952-4950863445DD}"/>
              </a:ext>
            </a:extLst>
          </p:cNvPr>
          <p:cNvSpPr/>
          <p:nvPr/>
        </p:nvSpPr>
        <p:spPr>
          <a:xfrm>
            <a:off x="899592" y="1347029"/>
            <a:ext cx="2952327" cy="4086871"/>
          </a:xfrm>
          <a:prstGeom prst="rect">
            <a:avLst/>
          </a:prstGeom>
          <a:solidFill>
            <a:srgbClr val="D9D9D9">
              <a:alpha val="30196"/>
            </a:srgbClr>
          </a:solidFill>
          <a:ln w="9525" cap="rnd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900">
              <a:solidFill>
                <a:schemeClr val="tx1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5754DA7-2DFD-B0FA-09E9-50742F0E0848}"/>
              </a:ext>
            </a:extLst>
          </p:cNvPr>
          <p:cNvSpPr/>
          <p:nvPr/>
        </p:nvSpPr>
        <p:spPr>
          <a:xfrm>
            <a:off x="5148064" y="1313555"/>
            <a:ext cx="2952326" cy="4086874"/>
          </a:xfrm>
          <a:prstGeom prst="rect">
            <a:avLst/>
          </a:prstGeom>
          <a:solidFill>
            <a:srgbClr val="D9D9D9">
              <a:alpha val="30196"/>
            </a:srgbClr>
          </a:solidFill>
          <a:ln w="9525" cap="rnd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900">
              <a:solidFill>
                <a:schemeClr val="tx1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E24102A-823E-D9CA-9F97-3D6D1B55C3E5}"/>
              </a:ext>
            </a:extLst>
          </p:cNvPr>
          <p:cNvSpPr txBox="1"/>
          <p:nvPr/>
        </p:nvSpPr>
        <p:spPr>
          <a:xfrm>
            <a:off x="1205755" y="1632666"/>
            <a:ext cx="2340000" cy="432000"/>
          </a:xfrm>
          <a:prstGeom prst="rect">
            <a:avLst/>
          </a:prstGeom>
          <a:noFill/>
          <a:ln w="9525" cap="rnd">
            <a:noFill/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685800">
              <a:defRPr/>
            </a:pPr>
            <a:r>
              <a:rPr lang="es-ES" sz="2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Trasformaciones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D676A94-EEA9-4276-00A8-B81118986E91}"/>
              </a:ext>
            </a:extLst>
          </p:cNvPr>
          <p:cNvSpPr txBox="1"/>
          <p:nvPr/>
        </p:nvSpPr>
        <p:spPr>
          <a:xfrm>
            <a:off x="5454222" y="1632666"/>
            <a:ext cx="2340000" cy="432000"/>
          </a:xfrm>
          <a:prstGeom prst="rect">
            <a:avLst/>
          </a:prstGeom>
          <a:noFill/>
          <a:ln w="9525" cap="rnd">
            <a:noFill/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ES" sz="2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Acciones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443DD44-27E4-B729-469A-047D66D33E9D}"/>
              </a:ext>
            </a:extLst>
          </p:cNvPr>
          <p:cNvSpPr txBox="1"/>
          <p:nvPr/>
        </p:nvSpPr>
        <p:spPr>
          <a:xfrm>
            <a:off x="899592" y="3356992"/>
            <a:ext cx="2952326" cy="2076908"/>
          </a:xfrm>
          <a:prstGeom prst="rect">
            <a:avLst/>
          </a:prstGeom>
          <a:solidFill>
            <a:schemeClr val="accent1">
              <a:alpha val="30196"/>
            </a:schemeClr>
          </a:solidFill>
          <a:ln w="9525" cap="rnd">
            <a:noFill/>
            <a:prstDash val="solid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00025" indent="-128588" defTabSz="685800">
              <a:buFont typeface="Arial" panose="020B0604020202020204" pitchFamily="34" charset="0"/>
              <a:buChar char="•"/>
              <a:defRPr/>
            </a:pPr>
            <a:r>
              <a:rPr lang="es-ES" sz="1600" dirty="0">
                <a:solidFill>
                  <a:schemeClr val="tx2">
                    <a:lumMod val="75000"/>
                  </a:schemeClr>
                </a:solidFill>
              </a:rPr>
              <a:t>Definen como se modifican los datos (evaluación perezosa):</a:t>
            </a:r>
          </a:p>
          <a:p>
            <a:pPr marL="657225" lvl="1" indent="-128588" defTabSz="685800">
              <a:buFont typeface="Arial" panose="020B0604020202020204" pitchFamily="34" charset="0"/>
              <a:buChar char="•"/>
              <a:defRPr/>
            </a:pPr>
            <a:r>
              <a:rPr lang="es-ES" sz="1600" dirty="0" err="1">
                <a:solidFill>
                  <a:schemeClr val="tx2">
                    <a:lumMod val="75000"/>
                  </a:schemeClr>
                </a:solidFill>
              </a:rPr>
              <a:t>Select</a:t>
            </a:r>
            <a:r>
              <a:rPr lang="es-ES" sz="1600" dirty="0">
                <a:solidFill>
                  <a:schemeClr val="tx2">
                    <a:lumMod val="75000"/>
                  </a:schemeClr>
                </a:solidFill>
              </a:rPr>
              <a:t>()</a:t>
            </a:r>
          </a:p>
          <a:p>
            <a:pPr marL="657225" lvl="1" indent="-128588" defTabSz="685800">
              <a:buFont typeface="Arial" panose="020B0604020202020204" pitchFamily="34" charset="0"/>
              <a:buChar char="•"/>
              <a:defRPr/>
            </a:pPr>
            <a:r>
              <a:rPr lang="es-ES" sz="1600" dirty="0" err="1">
                <a:solidFill>
                  <a:schemeClr val="tx2">
                    <a:lumMod val="75000"/>
                  </a:schemeClr>
                </a:solidFill>
              </a:rPr>
              <a:t>Filter</a:t>
            </a:r>
            <a:r>
              <a:rPr lang="es-ES" sz="1600" dirty="0">
                <a:solidFill>
                  <a:schemeClr val="tx2">
                    <a:lumMod val="75000"/>
                  </a:schemeClr>
                </a:solidFill>
              </a:rPr>
              <a:t>()</a:t>
            </a:r>
          </a:p>
          <a:p>
            <a:pPr marL="657225" lvl="1" indent="-128588" defTabSz="685800">
              <a:buFont typeface="Arial" panose="020B0604020202020204" pitchFamily="34" charset="0"/>
              <a:buChar char="•"/>
              <a:defRPr/>
            </a:pPr>
            <a:r>
              <a:rPr lang="es-ES" sz="1600" dirty="0" err="1">
                <a:solidFill>
                  <a:schemeClr val="tx2">
                    <a:lumMod val="75000"/>
                  </a:schemeClr>
                </a:solidFill>
              </a:rPr>
              <a:t>withColumn</a:t>
            </a:r>
            <a:r>
              <a:rPr lang="es-ES" sz="1600" dirty="0">
                <a:solidFill>
                  <a:schemeClr val="tx2">
                    <a:lumMod val="75000"/>
                  </a:schemeClr>
                </a:solidFill>
              </a:rPr>
              <a:t>()</a:t>
            </a:r>
          </a:p>
          <a:p>
            <a:pPr marL="657225" lvl="1" indent="-128588" defTabSz="685800">
              <a:buFont typeface="Arial" panose="020B0604020202020204" pitchFamily="34" charset="0"/>
              <a:buChar char="•"/>
              <a:defRPr/>
            </a:pPr>
            <a:r>
              <a:rPr lang="es-ES" sz="1600" dirty="0" err="1">
                <a:solidFill>
                  <a:schemeClr val="tx2">
                    <a:lumMod val="75000"/>
                  </a:schemeClr>
                </a:solidFill>
              </a:rPr>
              <a:t>groupBy</a:t>
            </a:r>
            <a:r>
              <a:rPr lang="es-ES" sz="1600" dirty="0">
                <a:solidFill>
                  <a:schemeClr val="tx2">
                    <a:lumMod val="75000"/>
                  </a:schemeClr>
                </a:solidFill>
              </a:rPr>
              <a:t>()</a:t>
            </a:r>
          </a:p>
          <a:p>
            <a:pPr marL="657225" lvl="1" indent="-128588" defTabSz="685800">
              <a:buFont typeface="Arial" panose="020B0604020202020204" pitchFamily="34" charset="0"/>
              <a:buChar char="•"/>
              <a:defRPr/>
            </a:pPr>
            <a:r>
              <a:rPr lang="es-ES" sz="1600" dirty="0" err="1">
                <a:solidFill>
                  <a:schemeClr val="tx2">
                    <a:lumMod val="75000"/>
                  </a:schemeClr>
                </a:solidFill>
              </a:rPr>
              <a:t>Join</a:t>
            </a:r>
            <a:r>
              <a:rPr lang="es-ES" sz="1600" dirty="0">
                <a:solidFill>
                  <a:schemeClr val="tx2">
                    <a:lumMod val="75000"/>
                  </a:schemeClr>
                </a:solidFill>
              </a:rPr>
              <a:t>()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D23524B-67F1-372E-C9B5-88CA2B1FAD38}"/>
              </a:ext>
            </a:extLst>
          </p:cNvPr>
          <p:cNvSpPr txBox="1"/>
          <p:nvPr/>
        </p:nvSpPr>
        <p:spPr>
          <a:xfrm>
            <a:off x="5148060" y="3323517"/>
            <a:ext cx="2952325" cy="2076908"/>
          </a:xfrm>
          <a:prstGeom prst="rect">
            <a:avLst/>
          </a:prstGeom>
          <a:solidFill>
            <a:schemeClr val="accent1">
              <a:alpha val="30196"/>
            </a:schemeClr>
          </a:solidFill>
          <a:ln w="9525" cap="rnd">
            <a:noFill/>
            <a:prstDash val="solid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85750" indent="-128588" defTabSz="685800">
              <a:buFont typeface="Arial" panose="020B0604020202020204" pitchFamily="34" charset="0"/>
              <a:buChar char="•"/>
              <a:defRPr/>
            </a:pPr>
            <a:r>
              <a:rPr lang="es-ES" sz="1600" dirty="0">
                <a:solidFill>
                  <a:schemeClr val="tx2">
                    <a:lumMod val="75000"/>
                  </a:schemeClr>
                </a:solidFill>
              </a:rPr>
              <a:t>Ejecutan el procesamiento y devuelven resultados:</a:t>
            </a:r>
          </a:p>
          <a:p>
            <a:pPr marL="628650" lvl="1" indent="-128588" defTabSz="685800">
              <a:buFont typeface="Arial" panose="020B0604020202020204" pitchFamily="34" charset="0"/>
              <a:buChar char="•"/>
              <a:defRPr/>
            </a:pPr>
            <a:r>
              <a:rPr lang="es-ES" sz="1600" dirty="0">
                <a:solidFill>
                  <a:schemeClr val="tx2">
                    <a:lumMod val="75000"/>
                  </a:schemeClr>
                </a:solidFill>
              </a:rPr>
              <a:t>Show()</a:t>
            </a:r>
          </a:p>
          <a:p>
            <a:pPr marL="628650" lvl="1" indent="-128588" defTabSz="685800">
              <a:buFont typeface="Arial" panose="020B0604020202020204" pitchFamily="34" charset="0"/>
              <a:buChar char="•"/>
              <a:defRPr/>
            </a:pPr>
            <a:r>
              <a:rPr lang="es-ES" sz="1600" dirty="0" err="1">
                <a:solidFill>
                  <a:schemeClr val="tx2">
                    <a:lumMod val="75000"/>
                  </a:schemeClr>
                </a:solidFill>
              </a:rPr>
              <a:t>Count</a:t>
            </a:r>
            <a:r>
              <a:rPr lang="es-ES" sz="1600" dirty="0">
                <a:solidFill>
                  <a:schemeClr val="tx2">
                    <a:lumMod val="75000"/>
                  </a:schemeClr>
                </a:solidFill>
              </a:rPr>
              <a:t>()</a:t>
            </a:r>
          </a:p>
          <a:p>
            <a:pPr marL="628650" lvl="1" indent="-128588" defTabSz="685800">
              <a:buFont typeface="Arial" panose="020B0604020202020204" pitchFamily="34" charset="0"/>
              <a:buChar char="•"/>
              <a:defRPr/>
            </a:pPr>
            <a:r>
              <a:rPr lang="es-ES" sz="1600" dirty="0" err="1">
                <a:solidFill>
                  <a:schemeClr val="tx2">
                    <a:lumMod val="75000"/>
                  </a:schemeClr>
                </a:solidFill>
              </a:rPr>
              <a:t>Collect</a:t>
            </a:r>
            <a:r>
              <a:rPr lang="es-ES" sz="1600" dirty="0">
                <a:solidFill>
                  <a:schemeClr val="tx2">
                    <a:lumMod val="75000"/>
                  </a:schemeClr>
                </a:solidFill>
              </a:rPr>
              <a:t>()</a:t>
            </a:r>
          </a:p>
          <a:p>
            <a:pPr marL="628650" lvl="1" indent="-128588" defTabSz="685800">
              <a:buFont typeface="Arial" panose="020B0604020202020204" pitchFamily="34" charset="0"/>
              <a:buChar char="•"/>
              <a:defRPr/>
            </a:pPr>
            <a:r>
              <a:rPr lang="es-ES" sz="1600" dirty="0" err="1">
                <a:solidFill>
                  <a:schemeClr val="tx2">
                    <a:lumMod val="75000"/>
                  </a:schemeClr>
                </a:solidFill>
              </a:rPr>
              <a:t>Write</a:t>
            </a:r>
            <a:r>
              <a:rPr lang="es-ES" sz="1600" dirty="0">
                <a:solidFill>
                  <a:schemeClr val="tx2">
                    <a:lumMod val="75000"/>
                  </a:schemeClr>
                </a:solidFill>
              </a:rPr>
              <a:t>()</a:t>
            </a:r>
            <a:endParaRPr lang="en-US" sz="1600" dirty="0">
              <a:solidFill>
                <a:schemeClr val="tx2">
                  <a:lumMod val="75000"/>
                </a:schemeClr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5A9D05E-BED1-B42F-E6A4-4F5500E16650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985185" y="2270229"/>
            <a:ext cx="828000" cy="828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C10D09D-6DAC-DF13-96F5-E0AA32D54361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233114" y="2270229"/>
            <a:ext cx="828000" cy="82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1998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3A2ED0D-CF44-836B-BD91-A42D2BBE6A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3484776B-CB76-91C5-3D5E-E8A973BFA1AD}"/>
              </a:ext>
            </a:extLst>
          </p:cNvPr>
          <p:cNvSpPr txBox="1"/>
          <p:nvPr/>
        </p:nvSpPr>
        <p:spPr>
          <a:xfrm>
            <a:off x="1214767" y="2760676"/>
            <a:ext cx="671446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100" b="1" dirty="0">
                <a:solidFill>
                  <a:schemeClr val="bg1"/>
                </a:solidFill>
                <a:latin typeface="Montserrat" panose="00000500000000000000" pitchFamily="2" charset="0"/>
              </a:rPr>
              <a:t>DEMO</a:t>
            </a:r>
          </a:p>
          <a:p>
            <a:pPr algn="ctr"/>
            <a:r>
              <a:rPr lang="es-ES" sz="2100" dirty="0">
                <a:solidFill>
                  <a:schemeClr val="bg1"/>
                </a:solidFill>
                <a:latin typeface="Montserrat" panose="00000500000000000000" pitchFamily="2" charset="0"/>
              </a:rPr>
              <a:t>A PRACTICAR CON PYSPARK</a:t>
            </a:r>
          </a:p>
        </p:txBody>
      </p:sp>
    </p:spTree>
    <p:extLst>
      <p:ext uri="{BB962C8B-B14F-4D97-AF65-F5344CB8AC3E}">
        <p14:creationId xmlns:p14="http://schemas.microsoft.com/office/powerpoint/2010/main" val="26096526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379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10 CuadroTexto"/>
          <p:cNvSpPr txBox="1"/>
          <p:nvPr/>
        </p:nvSpPr>
        <p:spPr>
          <a:xfrm>
            <a:off x="3833047" y="5507940"/>
            <a:ext cx="14779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>
                <a:solidFill>
                  <a:schemeClr val="bg1"/>
                </a:solidFill>
              </a:rPr>
              <a:t>www.ceste.es</a:t>
            </a:r>
          </a:p>
        </p:txBody>
      </p:sp>
      <p:pic>
        <p:nvPicPr>
          <p:cNvPr id="12" name="11 Imagen" descr="CESTE blanco estrella roja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664000" y="2348880"/>
            <a:ext cx="3816424" cy="182598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Diseño personalizad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D61D317CF2309C4E8DA448EE42D88B65" ma:contentTypeVersion="14" ma:contentTypeDescription="Crear nuevo documento." ma:contentTypeScope="" ma:versionID="499295a40b32042ffc1aa18e52107fb2">
  <xsd:schema xmlns:xsd="http://www.w3.org/2001/XMLSchema" xmlns:xs="http://www.w3.org/2001/XMLSchema" xmlns:p="http://schemas.microsoft.com/office/2006/metadata/properties" xmlns:ns2="e24c3f89-b1e2-4b5c-81e1-9b07710f5189" xmlns:ns3="ce845bb0-6f82-4cf9-8b02-3916bb6268df" targetNamespace="http://schemas.microsoft.com/office/2006/metadata/properties" ma:root="true" ma:fieldsID="cacbbaa88dffef174e809ab62d2fa790" ns2:_="" ns3:_="">
    <xsd:import namespace="e24c3f89-b1e2-4b5c-81e1-9b07710f5189"/>
    <xsd:import namespace="ce845bb0-6f82-4cf9-8b02-3916bb6268d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LengthInSeconds" minOccurs="0"/>
                <xsd:element ref="ns2:MediaServiceLocation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24c3f89-b1e2-4b5c-81e1-9b07710f518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0" nillable="true" ma:taxonomy="true" ma:internalName="lcf76f155ced4ddcb4097134ff3c332f" ma:taxonomyFieldName="MediaServiceImageTags" ma:displayName="Etiquetas de imagen" ma:readOnly="false" ma:fieldId="{5cf76f15-5ced-4ddc-b409-7134ff3c332f}" ma:taxonomyMulti="true" ma:sspId="59dbaa74-2a60-464d-988b-bba989cac70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e845bb0-6f82-4cf9-8b02-3916bb6268df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51e47c2f-83de-443c-9b77-fbf0d35e4197}" ma:internalName="TaxCatchAll" ma:showField="CatchAllData" ma:web="ce845bb0-6f82-4cf9-8b02-3916bb6268d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24c3f89-b1e2-4b5c-81e1-9b07710f5189">
      <Terms xmlns="http://schemas.microsoft.com/office/infopath/2007/PartnerControls"/>
    </lcf76f155ced4ddcb4097134ff3c332f>
    <TaxCatchAll xmlns="ce845bb0-6f82-4cf9-8b02-3916bb6268df" xsi:nil="true"/>
  </documentManagement>
</p:properties>
</file>

<file path=customXml/itemProps1.xml><?xml version="1.0" encoding="utf-8"?>
<ds:datastoreItem xmlns:ds="http://schemas.openxmlformats.org/officeDocument/2006/customXml" ds:itemID="{6FDDB250-E753-47E4-8ED1-CAC7AD183E6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57BF0C9-4CDD-43A3-8A95-A49D62C2F2E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24c3f89-b1e2-4b5c-81e1-9b07710f5189"/>
    <ds:schemaRef ds:uri="ce845bb0-6f82-4cf9-8b02-3916bb6268d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A79858A-5E67-489D-9BB4-CD604D981F2A}">
  <ds:schemaRefs>
    <ds:schemaRef ds:uri="http://schemas.microsoft.com/office/2006/metadata/properties"/>
    <ds:schemaRef ds:uri="http://schemas.microsoft.com/office/infopath/2007/PartnerControls"/>
    <ds:schemaRef ds:uri="e24c3f89-b1e2-4b5c-81e1-9b07710f5189"/>
    <ds:schemaRef ds:uri="ce845bb0-6f82-4cf9-8b02-3916bb6268df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18896</TotalTime>
  <Words>340</Words>
  <Application>Microsoft Office PowerPoint</Application>
  <PresentationFormat>On-screen Show (4:3)</PresentationFormat>
  <Paragraphs>81</Paragraphs>
  <Slides>10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-apple-system</vt:lpstr>
      <vt:lpstr>Aptos</vt:lpstr>
      <vt:lpstr>Arial</vt:lpstr>
      <vt:lpstr>Calibri</vt:lpstr>
      <vt:lpstr>Montserrat</vt:lpstr>
      <vt:lpstr>Diseño personalizado</vt:lpstr>
      <vt:lpstr>PowerPoint Presentation</vt:lpstr>
      <vt:lpstr>¿Quién soy?</vt:lpstr>
      <vt:lpstr>PowerPoint Presentation</vt:lpstr>
      <vt:lpstr>Índice | Fundamentos y diagnóstico de rendimiento</vt:lpstr>
      <vt:lpstr>Objetivos | Una primera toma de contacto con Spark y PySpark</vt:lpstr>
      <vt:lpstr>¿Qué es Apache Spark? | La mejor forma de tratar un volumen grande de datos</vt:lpstr>
      <vt:lpstr>Estructura de datos en Spark | Evolución en busca de mejoras  </vt:lpstr>
      <vt:lpstr>¿Cómo operar con los datos? | Trasformaciones y acciones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psoria</dc:creator>
  <cp:lastModifiedBy>Pablo  Sanz Caperote</cp:lastModifiedBy>
  <cp:revision>383</cp:revision>
  <cp:lastPrinted>2018-06-15T07:54:48Z</cp:lastPrinted>
  <dcterms:created xsi:type="dcterms:W3CDTF">2014-05-13T08:36:54Z</dcterms:created>
  <dcterms:modified xsi:type="dcterms:W3CDTF">2026-01-31T09:44:32Z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0x010100D61D317CF2309C4E8DA448EE42D88B65</vt:lpwstr>
  </property>
</Properties>
</file>